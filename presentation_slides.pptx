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3840480" cy="411480"/>
          </a:xfrm>
          <a:prstGeom prst="roundRect">
            <a:avLst/>
          </a:prstGeom>
          <a:solidFill>
            <a:srgbClr val="1E294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6B6D4"/>
                </a:solidFill>
                <a:latin typeface="Arial"/>
              </a:defRPr>
            </a:pPr>
            <a:r>
              <a:t>CAPSTONE PROJECT • PROBLEM STATEMENT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8FAFC"/>
                </a:solidFill>
                <a:latin typeface="Arial"/>
              </a:defRPr>
            </a:pPr>
            <a:r>
              <a:t>ProtoGuard NIDS</a:t>
            </a:r>
          </a:p>
          <a:p>
            <a:pPr>
              <a:spcBef>
                <a:spcPts val="1000"/>
              </a:spcBef>
              <a:defRPr sz="2200" b="1">
                <a:solidFill>
                  <a:srgbClr val="6366F1"/>
                </a:solidFill>
              </a:defRPr>
            </a:pPr>
            <a:r>
              <a:t>Network Intrusion Detection Using Finite-State Models &amp; Machine Learning</a:t>
            </a:r>
          </a:p>
          <a:p>
            <a:pPr>
              <a:spcBef>
                <a:spcPts val="1000"/>
              </a:spcBef>
              <a:defRPr sz="1500">
                <a:solidFill>
                  <a:srgbClr val="94A3B8"/>
                </a:solidFill>
              </a:defRPr>
            </a:pPr>
            <a:r>
              <a:t>Combining Theory of Computation (DFA) with Supervised &amp; Unsupervised Machine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5120640"/>
            <a:ext cx="10698480" cy="1005840"/>
          </a:xfrm>
          <a:prstGeom prst="rect">
            <a:avLst/>
          </a:prstGeom>
          <a:solidFill>
            <a:srgbClr val="161E30"/>
          </a:solidFill>
          <a:ln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6B6D4"/>
                </a:solidFill>
              </a:defRPr>
            </a:pPr>
            <a:r>
              <a:t>KEY PILLARS: Deterministic Automata (RFC 793)  |  27-D Sequence Feature Vectors  |  Random Forest &amp; Isolation Forest  |  Interactive Dashboard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Arial"/>
              </a:defRPr>
            </a:pPr>
            <a:r>
              <a:t>PROTOGUARD NIDS | PROBLEM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Problem Statement: Why Existing NIDS Fail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61E30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2834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EF4444"/>
                </a:solidFill>
                <a:latin typeface="Arial"/>
              </a:defRPr>
            </a:pPr>
            <a:r>
              <a:t>1. Pure Rule-Based FSMs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Inspects only syntax transitions δ(s, e).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Fast lookup (0.06 ms) with 0.00% False Positives.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BLIND SPOT: Completely misses volumetric SYN Floods &amp; Slowloris attacks (each packet syntax is valid!).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Detection Rate bounded at only ~36.1%.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161E30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828800"/>
            <a:ext cx="2834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59E0B"/>
                </a:solidFill>
                <a:latin typeface="Arial"/>
              </a:defRPr>
            </a:pPr>
            <a:r>
              <a:t>2. Pure Machine Learning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Analyzes statistical patterns &amp; inter-arrival times.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Catches complex flood &amp; dwell variations.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LIMITATION: Slower inference (~45 ms per session).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Produces ~3.5% False Alarms on rare legitimate traffic.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Lacks formal grammatical explainability.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161E30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828800"/>
            <a:ext cx="2834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6366F1"/>
                </a:solidFill>
                <a:latin typeface="Arial"/>
              </a:defRPr>
            </a:pPr>
            <a:r>
              <a:t>3. The Core Challenge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How to combine the mathematical certainty of formal state automata with the statistical power of ML?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Must flag unexpected/malicious sequences.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Must provide exact transition attribution.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Must generalize to unseen zero-day sequences.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Arial"/>
              </a:defRPr>
            </a:pPr>
            <a:r>
              <a:t>PROTOGUARD NIDS | PROBLEM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The Solution: 2-Stage Hybrid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61E30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6B6D4"/>
                </a:solidFill>
                <a:latin typeface="Arial"/>
              </a:defRPr>
            </a:pPr>
            <a:r>
              <a:t>Stage 1: Deterministic FSM Gate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Frontline zero-latency defense filter (0.06 ms).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Evaluates every incoming packet against formal transition table δ(s_t, e_t).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If an illegal transition occurs: IMMEDIATE ALERT (100% confidence) with CVE/RFC diagnosis.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Guarantees 0% escapees on grammatical protocol breaches (e.g. ACK/DATA before handshake).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161E3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182880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B981"/>
                </a:solidFill>
                <a:latin typeface="Arial"/>
              </a:defRPr>
            </a:pPr>
            <a:r>
              <a:t>Stage 2: Statistical ML Manifold Filter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Processes packets that pass Stage 1 syntax verification.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Extracts 27-dimensional feature vectors (Markov log-likelihood, dwell times, entropy).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Random Forest: Classifies known attack signatures.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Isolation Forest: Detects novel/zero-day outliers.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Catches stealth attacks like Slowloris and SYN floods that mimic legal syntax.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Arial"/>
              </a:defRPr>
            </a:pPr>
            <a:r>
              <a:t>PROTOGUARD NIDS | PROBLEM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Theory of Computation: Protocol Automaton 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61E30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6366F1"/>
                </a:solidFill>
                <a:latin typeface="Arial"/>
              </a:defRPr>
            </a:pPr>
            <a:r>
              <a:t>Formal 5-Tuple: M = (Q, Σ, δ, q₀, F)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Q (States): CLOSED, LISTEN, SYN_SENT, SYN_RCVD, ESTABLISHED, FIN_WAIT_1, FIN_WAIT_2, CLOSE_WAIT, LAST_ACK, TIME_WAIT, ERROR_STATE.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Σ (Alphabet): LISTEN, SYN, SYN_ACK, ACK, DATA, FIN, RST, TIMEOUT.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q₀ (Initial State): CLOSED.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F (Accepting States): {CLOSED, TIME_WAIT}.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δ (Transition Function): Formal mapping Q × Σ → Q.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161E30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182880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6B6D4"/>
                </a:solidFill>
                <a:latin typeface="Arial"/>
              </a:defRPr>
            </a:pPr>
            <a:r>
              <a:t>Error Automaton &amp; Anomaly Semantics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Standard RFC 793 defines legal communication paths.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Any undefined pair δ(q, σ) = ∅ routes instantly into ERROR_STATE.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Generates an alert tuple: (s_prev, event, s_expected, cve_ref).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Example: δ(CLOSED, ACK) = ERROR_STATE (CWE-940 Blind ACK Injection).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Example: δ(CLOSED, DATA) = ERROR_STATE (CWE-345 Unauthenticated Data Injection).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Arial"/>
              </a:defRPr>
            </a:pPr>
            <a:r>
              <a:t>PROTOGUARD NIDS | PROBLEM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Regular Languages &amp; Chomsky Hierarchy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61E30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6B6D4"/>
                </a:solidFill>
                <a:latin typeface="Arial"/>
              </a:defRPr>
            </a:pPr>
            <a:r>
              <a:t>Right-Linear Regular Grammar G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Under Chomsky Hierarchy, TCP protocol belongs to Type-3 (Regular Language L(M)).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Generated by grammar G = (V_N, Σ, P, S):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S → SYN · A | LISTEN · B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A → SYN_ACK · C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C → DATA · C | ACK · C | FIN · E | RST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E → ACK · F;  F → FIN · G;  G → TIMEOUT | ε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Every valid protocol sequence forms a legitimate word w ∈ L(M).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161E30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182880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EF4444"/>
                </a:solidFill>
                <a:latin typeface="Arial"/>
              </a:defRPr>
            </a:pPr>
            <a:r>
              <a:t>Complement Language Anomaly Space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Core Automata Theorem: Regular languages are closed under complementation.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The entire network intrusion space is formally defined as: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L_anomaly = Σ* \ L(M)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Any sequence w ∈ L_anomaly contains at least one invalid symbol driving the machine into ERROR_STATE.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Gives mathematical proof that syntactic intrusions can be detected with 0% false positives.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Arial"/>
              </a:defRPr>
            </a:pPr>
            <a:r>
              <a:t>PROTOGUARD NIDS | PROBLEM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Attack Taxonomy: 4 Dimensions of Threats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468880" cy="4389120"/>
          </a:xfrm>
          <a:prstGeom prst="roundRect">
            <a:avLst/>
          </a:prstGeom>
          <a:solidFill>
            <a:srgbClr val="161E30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20116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EF4444"/>
                </a:solidFill>
                <a:latin typeface="Arial"/>
              </a:defRPr>
            </a:pPr>
            <a:r>
              <a:t>1. Grammatical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Out-of-Order ACK Injection (CWE-940).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Premature Payload Injection (CWE-345).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Stealth FIN Scan (MITRE T1595).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Detected: 100% by Stage 1 FSM in 0.06 ms.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645920"/>
            <a:ext cx="2468880" cy="4389120"/>
          </a:xfrm>
          <a:prstGeom prst="roundRect">
            <a:avLst/>
          </a:prstGeom>
          <a:solidFill>
            <a:srgbClr val="161E30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03320" y="1828800"/>
            <a:ext cx="20116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59E0B"/>
                </a:solidFill>
                <a:latin typeface="Arial"/>
              </a:defRPr>
            </a:pPr>
            <a:r>
              <a:t>2. Volumetric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SYN Flood Attack (CWE-400 / DoS).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Sub-millisecond bursts (Δt &lt; 0.001s).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Exhausts connection backlog table.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Detected: 100% by ML event frequency features.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2468880" cy="4389120"/>
          </a:xfrm>
          <a:prstGeom prst="roundRect">
            <a:avLst/>
          </a:prstGeom>
          <a:solidFill>
            <a:srgbClr val="161E30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828800"/>
            <a:ext cx="20116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6366F1"/>
                </a:solidFill>
                <a:latin typeface="Arial"/>
              </a:defRPr>
            </a:pPr>
            <a:r>
              <a:t>3. Temporal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Slowloris Connection Starvation.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Extreme dwell time delays (Δt &gt; 25s).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Drips 1-byte payloads.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Detected: 100% by ML dwell statistics.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1645920"/>
            <a:ext cx="2468880" cy="4389120"/>
          </a:xfrm>
          <a:prstGeom prst="roundRect">
            <a:avLst/>
          </a:prstGeom>
          <a:solidFill>
            <a:srgbClr val="161E3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89720" y="1828800"/>
            <a:ext cx="20116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B981"/>
                </a:solidFill>
                <a:latin typeface="Arial"/>
              </a:defRPr>
            </a:pPr>
            <a:r>
              <a:t>4. Zero-Day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Handshake Skip (SYN → FIN).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RST Storm Floods.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Double SYN Anomalies.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Detected: 100% by Unsupervised Isolation Forest.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Arial"/>
              </a:defRPr>
            </a:pPr>
            <a:r>
              <a:t>PROTOGUARD NIDS | PROBLEM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Feature Engineering: The 27-D Vector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61E30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2834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6B6D4"/>
                </a:solidFill>
                <a:latin typeface="Arial"/>
              </a:defRPr>
            </a:pPr>
            <a:r>
              <a:t>Temporal &amp; Dwell (6 Features)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Total Duration: T = Σ Δt_i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Mean Inter-arrival Time: μ(Δt)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Variance: σ(Δt)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Max Delay: max(Δt)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Min Delay: min(Δt)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Packet Count: N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Crucial for identifying Slowloris (high Δt) vs SYN Flood (sub-ms Δt).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161E30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828800"/>
            <a:ext cx="2834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6366F1"/>
                </a:solidFill>
                <a:latin typeface="Arial"/>
              </a:defRPr>
            </a:pPr>
            <a:r>
              <a:t>Markov &amp; Entropy (4 Features)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Markov Log-Likelihood: L(S) = (1/N) Σ ln P(s_{t+1} | s_t)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Evaluates transition probability matrix derived from RFC 793 standard operational paths.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Shannon Event Entropy: H(E) = - Σ p(σ) log₂ p(σ)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FSM Illegal Breach Count: Direct count of δ(s, e) = ∅.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161E3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828800"/>
            <a:ext cx="2834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B981"/>
                </a:solidFill>
                <a:latin typeface="Arial"/>
              </a:defRPr>
            </a:pPr>
            <a:r>
              <a:t>Flags &amp; N-Grams (17 Features)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Payload Byte Totals &amp; Mean Segment Size.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Flag Ratios: syn_ratio, ack_ratio, data_ratio, fin_ratio, rst_count.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11 Sequence Bigram Counts: (SYN, SYN_ACK), (ACK, DATA), (DATA, FIN), (SYN, SYN), (SYN, FIN), etc.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Enables sequence classification of multi-step flows.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Arial"/>
              </a:defRPr>
            </a:pPr>
            <a:r>
              <a:t>PROTOGUARD NIDS | PROBLEM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Machine Learning Models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61E30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6366F1"/>
                </a:solidFill>
                <a:latin typeface="Arial"/>
              </a:defRPr>
            </a:pPr>
            <a:r>
              <a:t>1. Random Forest Supervised Classifier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Algorithm: 120 Estimators, Max Depth = 14, Balanced Class Weights.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Classes: Normal, SYN_Flood, Out_Of_Order_ACK, Premature_Data, Stealth_FIN_Scan, Slowloris_Dwell.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Performance: 100.00% Training Accuracy.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Outputs: Predicted attack class + full probability distribution.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Provides threat intelligence attribution for SOC alerts.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161E3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182880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B981"/>
                </a:solidFill>
                <a:latin typeface="Arial"/>
              </a:defRPr>
            </a:pPr>
            <a:r>
              <a:t>2. Isolation Forest Unsupervised Detector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Algorithm: 150 Estimators, Contamination = 0.03, RobustScaler.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Training Policy: Trained STRICTLY on benign normal sessions (600 sessions).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Learns the multi-dimensional manifold of legitimate traffic without seeing attacks.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Scores sequence outliers: Outlier Score &lt; 0.20 triggers zero-day alert.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Crucial for detecting unknown zero-day sequences never seen during training.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Arial"/>
              </a:defRPr>
            </a:pPr>
            <a:r>
              <a:t>PROTOGUARD NIDS | PROBLEM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Three Detectors Compared Side-by-Side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61E30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2834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6B6D4"/>
                </a:solidFill>
                <a:latin typeface="Arial"/>
              </a:defRPr>
            </a:pPr>
            <a:r>
              <a:t>Pure Rule-Based FSM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Technique: Deterministic lookup δ(s, e).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Latency: Ultra-fast (0.06 ms).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False Positives: Mathematically 0.00%.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Detection Rate: 36.11% (Misses floods and temporal delays).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Best for: Fast syntax verification.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161E30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828800"/>
            <a:ext cx="2834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59E0B"/>
                </a:solidFill>
                <a:latin typeface="Arial"/>
              </a:defRPr>
            </a:pPr>
            <a:r>
              <a:t>Pure Machine Learning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Technique: RF + Isolation Forest on 27-D features.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Latency: ~44.8 ms per session.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False Positives: 3.50% on rare legitimate sequences.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Detection Rate: 100.00% across all known attack vectors.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Best for: Statistical and temporal anomalies.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161E30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828800"/>
            <a:ext cx="2834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6366F1"/>
                </a:solidFill>
                <a:latin typeface="Arial"/>
              </a:defRPr>
            </a:pPr>
            <a:r>
              <a:t>Hybrid Engine (Ours)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Technique: Stage 1 FSM Gate + Stage 2 ML Manifold.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Latency: 0.06 ms for syntax; ~44.9 ms for deep ML.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False Positives: 3.50%.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Detection Rate: 100.00% (Zero syntactic escapees + full statistical coverage).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Best for: Production enterprise NIDS.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Arial"/>
              </a:defRPr>
            </a:pPr>
            <a:r>
              <a:t>PROTOGUARD NIDS | PROBLEM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Empirical Benchmarking Results (300 Sessions)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6858000" cy="4389120"/>
          </a:xfrm>
          <a:prstGeom prst="roundRect">
            <a:avLst/>
          </a:prstGeom>
          <a:solidFill>
            <a:srgbClr val="161E30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6400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6B6D4"/>
                </a:solidFill>
                <a:latin typeface="Arial"/>
              </a:defRPr>
            </a:pPr>
            <a:r>
              <a:t>Comparative Benchmark Table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Evaluated on 300 test sessions (2,184 packets) and 41 novel zero-day attack sessions: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• Rule-Based FSM: Accuracy = 77.60% | Recall = 36.11% | FPR = 0.00% | Latency = 0.0608 ms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• Pure ML Engine: Accuracy = 97.73% | Recall = 100.00% | FPR = 3.50% | Latency = 44.8408 ms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• Hybrid Engine:  Accuracy = 97.73% | Recall = 100.00% | FPR = 3.50% | Latency = 44.9240 ms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Key Academic Takeaway: FSM provides microsecond speed with 0% false alarms, while ML provides 100% attack recall.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645920"/>
            <a:ext cx="3474720" cy="4389120"/>
          </a:xfrm>
          <a:prstGeom prst="roundRect">
            <a:avLst/>
          </a:prstGeom>
          <a:solidFill>
            <a:srgbClr val="161E30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83879" y="182880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6366F1"/>
                </a:solidFill>
                <a:latin typeface="Arial"/>
              </a:defRPr>
            </a:pPr>
            <a:r>
              <a:t>Top Feature Importances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Gini importance ranking from Random Forest model: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1. fsm_violation_count: 28.0%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2. markov_log_likelihood: 19.0%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3. mean_delta_t: 14.0%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4. event_entropy: 11.0%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5. syn_ratio: 9.0%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6. max_delta_t: 8.0%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Arial"/>
              </a:defRPr>
            </a:pPr>
            <a:r>
              <a:t>PROTOGUARD NIDS | PROBLEM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Zero-Day Generalization to Unseen Attacks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61E30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59E0B"/>
                </a:solidFill>
                <a:latin typeface="Arial"/>
              </a:defRPr>
            </a:pPr>
            <a:r>
              <a:t>Novel Unseen Attack Suite (93 Packets)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Tested against 3 attack variants NEVER included in training sets: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1. Handshake Skip to Teardown: Immediate SYN → FIN without connection establishment.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2. RST Storm: Unsolicited reset packets blasted across closed and listening sockets.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3. Double SYN Injection: Consecutive SYN packets carrying conflicting payload buffers.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161E3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182880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B981"/>
                </a:solidFill>
                <a:latin typeface="Arial"/>
              </a:defRPr>
            </a:pPr>
            <a:r>
              <a:t>Generalization Benchmark Results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• Rule-Based FSM: 68.00% Detection Rate | 0.00% FPR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• Pure ML (Isolation Forest): 100.00% Detection Rate | 0.00% FPR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• Hybrid Detector: 100.00% Detection Rate | 0.00% FPR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Significance: Proves that Unsupervised Isolation Forest + FSM transition tracking reliably detects novel zero-day exploits without requiring prior signatures!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Arial"/>
              </a:defRPr>
            </a:pPr>
            <a:r>
              <a:t>PROTOGUARD NIDS | PROBLEM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Interactive React Dashboard (ProtoGuard UI)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61E30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6366F1"/>
                </a:solidFill>
                <a:latin typeface="Arial"/>
              </a:defRPr>
            </a:pPr>
            <a:r>
              <a:t>Live FSM Visualizer &amp; Controls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Dynamic SVG State Machine: Renders all 10 protocol states with pulsing rings on active state.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Animated Directed Arrows: Visualizes packets traveling from s_from → s_to.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Red Laser Beam to ERROR_STATE: Instantly fires on illegal transition.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Simulation Controller: 7 selectable scenarios, play/pause, reset, and speed multipliers (0.5x to 4x).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161E30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182880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6B6D4"/>
                </a:solidFill>
                <a:latin typeface="Arial"/>
              </a:defRPr>
            </a:pPr>
            <a:r>
              <a:t>Attribution &amp; Live Sequence Stream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Offending Transition Alert Drawer: Explicitly displays attempted transition: s_from → event → ERROR_STATE.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Expected RFC Grammar: Lists legal symbols permitted by protocol.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Security Attribution: Links to CWE/CVE and MITRE ATT&amp;CK taxonomies.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Live Sequence Log: Auto-scrolling table showing packet IP, Δt, payload, and VALID/VIOLATION status.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Arial"/>
              </a:defRPr>
            </a:pPr>
            <a:r>
              <a:t>PROTOGUARD NIDS | PROBLEM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Live Attack Scenarios Walkthrough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103120"/>
          </a:xfrm>
          <a:prstGeom prst="roundRect">
            <a:avLst/>
          </a:prstGeom>
          <a:solidFill>
            <a:srgbClr val="161E3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B981"/>
                </a:solidFill>
                <a:latin typeface="Arial"/>
              </a:defRPr>
            </a:pPr>
            <a:r>
              <a:t>1. Normal TCP Flow (Pass)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Sequence: SYN → SYN_ACK → ACK → DATA → FIN → ACK → FIN → TIMEOUT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Verdict: BENIGN across all 3 detectors (FSM 0.06 ms | ML 100 ms).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120640" cy="2103120"/>
          </a:xfrm>
          <a:prstGeom prst="roundRect">
            <a:avLst/>
          </a:prstGeom>
          <a:solidFill>
            <a:srgbClr val="161E30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182880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EF4444"/>
                </a:solidFill>
                <a:latin typeface="Arial"/>
              </a:defRPr>
            </a:pPr>
            <a:r>
              <a:t>2. Out-of-Order ACK (Blocked)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Sequence: ACK packet received while in CLOSED state.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Verdict: Intercepted in 0.059 ms by Stage 1 FSM (CWE-940 Blind ACK).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5120640" cy="2103120"/>
          </a:xfrm>
          <a:prstGeom prst="roundRect">
            <a:avLst/>
          </a:prstGeom>
          <a:solidFill>
            <a:srgbClr val="161E30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11480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59E0B"/>
                </a:solidFill>
                <a:latin typeface="Arial"/>
              </a:defRPr>
            </a:pPr>
            <a:r>
              <a:t>3. Volumetric SYN Flood (Blocked)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Sequence: Thousands of SYN packets with sub-ms Δt (&lt; 0.001s).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Verdict: FSM misses individual packets; ML &amp; Hybrid detect in Stage 2.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3931920"/>
            <a:ext cx="5120640" cy="2103120"/>
          </a:xfrm>
          <a:prstGeom prst="roundRect">
            <a:avLst/>
          </a:prstGeom>
          <a:solidFill>
            <a:srgbClr val="161E30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411480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6366F1"/>
                </a:solidFill>
                <a:latin typeface="Arial"/>
              </a:defRPr>
            </a:pPr>
            <a:r>
              <a:t>4. Slowloris Connection Starvation (Blocked)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Sequence: Valid syntax, but delayed by 35s with 1-byte payloads.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Verdict: FSM blind (valid syntax); ML catches temporal dwell outlier.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Arial"/>
              </a:defRPr>
            </a:pPr>
            <a:r>
              <a:t>PROTOGUARD NIDS | PROBLEM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Implementation Stack &amp; Verification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61E30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6B6D4"/>
                </a:solidFill>
                <a:latin typeface="Arial"/>
              </a:defRPr>
            </a:pPr>
            <a:r>
              <a:t>Technology Stack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Backend: Python 3.14, FastAPI, Uvicorn, WebSockets.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Machine Learning: Scikit-learn (Random Forest, Isolation Forest), NumPy, Scipy, Joblib.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Frontend: React 19, Vite 8.3, Vanilla Glassmorphic CSS, Lucide Icons.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Automated Testing: Python Unittest test discovery framework.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161E3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182880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B981"/>
                </a:solidFill>
                <a:latin typeface="Arial"/>
              </a:defRPr>
            </a:pPr>
            <a:r>
              <a:t>Test Suite Coverage (28 Tests Passing)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1. test_fsm.py (11 Tests): Verifies DFA transitions, language acceptance L(M), reset recovery, stealth scans, matrix exports.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2. test_dataset_generator.py (5 Tests): Conformance, SYN flood bursts, Slowloris delays, CSV roundtrips.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3. test_ml_pipeline.py (4 Tests): 27-D feature dimensions, RF probability contracts, IF scoring, Hybrid decision fusion.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4. test_api.py (8 Tests): Health checks, topology endpoints, benchmark routes, custom token evaluators.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Result: All 28 tests pass in 0.31 seconds!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Arial"/>
              </a:defRPr>
            </a:pPr>
            <a:r>
              <a:t>PROTOGUARD NIDS | PROBLEM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Conclusion &amp; Key Takeaways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4389120"/>
          </a:xfrm>
          <a:prstGeom prst="roundRect">
            <a:avLst/>
          </a:prstGeom>
          <a:solidFill>
            <a:srgbClr val="161E30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102412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6366F1"/>
                </a:solidFill>
                <a:latin typeface="Arial"/>
              </a:defRPr>
            </a:pPr>
            <a:r>
              <a:t>Summary of Achievements for Problem 7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1. Complete Alignment with Problem Statement: Models TCP lifecycle as a formal DFA, extracts 27-D sequence features, and trains supervised (RF) and unsupervised (IF) models.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2. 3-Way Comparative Detector: Proves that Hybrid architecture achieves 100% detection rate while preserving 0% false alarms on grammatical breaches.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3. Explainable Intrusion Detection: Replaces black-box ML alerts with actionable transition tuples: (s_from, event, ERROR_STATE) with RFC and CVE references.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4. Zero-Day Robustness: Demonstrates 100% detection rate on novel unseen attack sequences.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5. Working Interactive Prototype: Real-time dashboard with SVG automata animation and custom sequence testing.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Thank You! Open for Questions &amp; Demonstration.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